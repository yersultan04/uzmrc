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Calibri"/>
              </a:rPr>
              <a:t>UzMRC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C9C2F5"/>
                </a:solidFill>
                <a:latin typeface="Calibri"/>
              </a:rPr>
              <a:t>ИИ-ассистент по нормативным документам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9A96B5"/>
                </a:solidFill>
                <a:latin typeface="Calibri"/>
              </a:rPr>
              <a:t>Чат по документам со ссылкой на источник  ·  сравнение приказов с нормами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777490"/>
                </a:solidFill>
                <a:latin typeface="Calibri"/>
              </a:rPr>
              <a:t>MVP для демонстрации  ·  18 июня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Зачем это нужно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41424"/>
                </a:solidFill>
                <a:latin typeface="Calibri"/>
              </a:rPr>
              <a:t>•  Нормативная база компании — десятки документов на русском и узбекском. Найти нужную норму и точную формулировку вручную — долго.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41424"/>
                </a:solidFill>
                <a:latin typeface="Calibri"/>
              </a:rPr>
              <a:t>•  Новые приказы и регламенты нужно сверять с действующими нормами: не противоречит ли, не дублирует ли, нет ли пробела.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41424"/>
                </a:solidFill>
                <a:latin typeface="Calibri"/>
              </a:rPr>
              <a:t>•  Цена ошибки высока — нужна ссылка на источник и точная цитата, а не «пересказ» от ИИ.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41424"/>
                </a:solidFill>
                <a:latin typeface="Calibri"/>
              </a:rPr>
              <a:t>•  Решение: ассистент, который отвечает строго по базе со ссылкой на файл/страницу/цитату и сам сравнивает документы с нормами.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Что умеет система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Два модуля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49240" cy="4023360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3DF5"/>
                </a:solidFill>
                <a:latin typeface="Calibri"/>
              </a:rPr>
              <a:t>1. Чат по документам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Вопрос на рус/узб → ответ по базе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Ссылка: файл, страница, точная цитата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Кросс-языковой поиск ru ↔ uz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Нет ответа в базе → не выдумывает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49240" cy="4023360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B3DF5"/>
                </a:solidFill>
                <a:latin typeface="Calibri"/>
              </a:rPr>
              <a:t>2. Сравнение документов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Приказ разбивается на пункты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Каждый пункт сверяется с базой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Противоречие / дубль / пробел / дополнение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Обоснование + цитата нормы + рекомендация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Экспорт отчёта (.md / PDF)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Модуль 1 — Чат по документам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Агентный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Гибридный поиск: плотные векторы (Voyage + Qdrant) + полнотекстовый (Postgres), слияние RRF, LLM-rerank.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Агент ReAct: цикл рассуждение→поиск→наблюдение, до 40 шагов, набор инструментов (поиск, декомпозиция, точный lookup, выборка страниц).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Структурированный вывод: каждый шаг — валидируемый JSON (защита от «свободного» текста модели).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Grounding-проверка: каждая цитата сверяется с исходным чанком; уверенность ограничивается долей подтверждённых цитат.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Модуль 2 — Сравнение документов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Типы находок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01168" cy="868680"/>
          </a:xfrm>
          <a:prstGeom prst="rect">
            <a:avLst/>
          </a:prstGeom>
          <a:solidFill>
            <a:srgbClr val="E2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1424"/>
                </a:solidFill>
                <a:latin typeface="Calibri"/>
              </a:rPr>
              <a:t>Противоречие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01168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555566"/>
                </a:solidFill>
                <a:latin typeface="Calibri"/>
              </a:rPr>
              <a:t>пункт нельзя исполнить, не нарушив действующую норму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71800"/>
            <a:ext cx="201168" cy="868680"/>
          </a:xfrm>
          <a:prstGeom prst="rect">
            <a:avLst/>
          </a:prstGeom>
          <a:solidFill>
            <a:srgbClr val="3D8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1424"/>
                </a:solidFill>
                <a:latin typeface="Calibri"/>
              </a:rPr>
              <a:t>Дубль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97180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555566"/>
                </a:solidFill>
                <a:latin typeface="Calibri"/>
              </a:rPr>
              <a:t>повторяет уже существующую норму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201168" cy="868680"/>
          </a:xfrm>
          <a:prstGeom prst="rect">
            <a:avLst/>
          </a:prstGeom>
          <a:solidFill>
            <a:srgbClr val="2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1424"/>
                </a:solidFill>
                <a:latin typeface="Calibri"/>
              </a:rPr>
              <a:t>Дополнение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93192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555566"/>
                </a:solidFill>
                <a:latin typeface="Calibri"/>
              </a:rPr>
              <a:t>расширяет/уточняет, не противореча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92040"/>
            <a:ext cx="201168" cy="86868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2743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1424"/>
                </a:solidFill>
                <a:latin typeface="Calibri"/>
              </a:rPr>
              <a:t>Пробел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892040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555566"/>
                </a:solidFill>
                <a:latin typeface="Calibri"/>
              </a:rPr>
              <a:t>в базе нет нормы по теме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3DF5"/>
                </a:solidFill>
                <a:latin typeface="Calibri"/>
              </a:rPr>
              <a:t>Фоновый прогон с прогресс-баром · ~20–25 с на 10 пунктов · до 120 пунктов за прогон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Архитектура и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Docker Compose · 4 контейнера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0881360" cy="566928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874519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24"/>
                </a:solidFill>
                <a:latin typeface="Calibri"/>
              </a:rPr>
              <a:t>React + Vite + TypeScript + Tailwind, nginx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59735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59735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459735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24"/>
                </a:solidFill>
                <a:latin typeface="Calibri"/>
              </a:rPr>
              <a:t>FastAPI (Python 3.12), async SQLAlchemy, Pydantic 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44951"/>
            <a:ext cx="10881360" cy="566928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1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Реляционная БД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44951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24"/>
                </a:solidFill>
                <a:latin typeface="Calibri"/>
              </a:rPr>
              <a:t>PostgreSQL 16 — метаданные, чанки, FTS, кэш эмбеддингов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30167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630167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Векторная БД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30167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24"/>
                </a:solidFill>
                <a:latin typeface="Calibri"/>
              </a:rPr>
              <a:t>Qdrant — плотные векторы (cosine)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15383"/>
            <a:ext cx="10881360" cy="566928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15383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Эмбеддинги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215383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24"/>
                </a:solidFill>
                <a:latin typeface="Calibri"/>
              </a:rPr>
              <a:t>Voyage voyage-3.5 (1024-dim, multilingual)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00599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00599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LLM-судья / 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800599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24"/>
                </a:solidFill>
                <a:latin typeface="Calibri"/>
              </a:rPr>
              <a:t>Cerebras gpt-oss-120b, фолбэк OpenRouter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85815"/>
            <a:ext cx="10881360" cy="566928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85815"/>
            <a:ext cx="3108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Авторизация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385815"/>
            <a:ext cx="7315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41424"/>
                </a:solidFill>
                <a:latin typeface="Calibri"/>
              </a:rPr>
              <a:t>JWT (HS256), bcrypt, закрытая регистрация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Защита от галлюцинаций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C2F5"/>
                </a:solidFill>
                <a:latin typeface="Calibri"/>
              </a:rPr>
              <a:t>Ключевое требование для нормативного ассистента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881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Каждая цитата сверяется с исходным фрагментом: подстрока → нормализация (переносы, пунктуация, гомоглифы OCR) → fuzzy-сопоставление.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Уверенность ответа ограничивается долей подтверждённых цитат: не подтвердились 2 из 3 — уверенность не выше 0.33.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•  Нет нормы в базе → система честно не отвечает, а не фабрикует ссылку (проверено на вопросе вне базы).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Лучше честно не ответить, чем сослаться на несуществующую норму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База знаний — текущий корпус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Живые цифры на странице «О системе»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514600" cy="1600200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5B3DF5"/>
                </a:solidFill>
                <a:latin typeface="Calibri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Calibri"/>
              </a:rPr>
              <a:t>документов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9272" y="1920240"/>
            <a:ext cx="2514600" cy="1600200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214884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5B3DF5"/>
                </a:solidFill>
                <a:latin typeface="Calibri"/>
              </a:rPr>
              <a:t>1 630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9718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Calibri"/>
              </a:rPr>
              <a:t>чанков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464" y="1920240"/>
            <a:ext cx="2514600" cy="1600200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8464" y="214884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5B3DF5"/>
                </a:solidFill>
                <a:latin typeface="Calibri"/>
              </a:rPr>
              <a:t>32.6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29718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Calibri"/>
              </a:rPr>
              <a:t>чанков/док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77656" y="1920240"/>
            <a:ext cx="2514600" cy="1600200"/>
          </a:xfrm>
          <a:prstGeom prst="rect">
            <a:avLst/>
          </a:prstGeom>
          <a:solidFill>
            <a:srgbClr val="F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77656" y="214884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5B3DF5"/>
                </a:solidFill>
                <a:latin typeface="Calibri"/>
              </a:rPr>
              <a:t>643 974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297180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Calibri"/>
              </a:rPr>
              <a:t>токенов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Источник: ≈35 нормативных актов + ≈12 аналитических обзоров (uzmrc.uz, ≈595 стр.) · voyage-3.5 · статус «Готова»</a:t>
            </a:r>
          </a:p>
        </p:txBody>
      </p:sp>
      <p:pic>
        <p:nvPicPr>
          <p:cNvPr id="18" name="Picture 17" descr="uzmrc-about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455" y="4297680"/>
            <a:ext cx="165261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Пример отчёта сравнения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Демо-приказ: 10 пунктов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4 противоречия · 1 дубль · 1 дополнение · 4 пробела · цитаты норм подтверждены 5/7 · ~23 с</a:t>
            </a:r>
          </a:p>
        </p:txBody>
      </p:sp>
      <p:pic>
        <p:nvPicPr>
          <p:cNvPr id="6" name="Picture 5" descr="uzmrc-compare-report-full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049" y="2286000"/>
            <a:ext cx="1451421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Границы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Что входит и что нет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49240" cy="4114800"/>
          </a:xfrm>
          <a:prstGeom prst="rect">
            <a:avLst/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A06A"/>
                </a:solidFill>
                <a:latin typeface="Calibri"/>
              </a:rPr>
              <a:t>Входит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Чат по базе со ссылками на источник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Сравнение документа с нормами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Кросс-язык ru ↔ uz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Экспорт отчёта (.md / PDF)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49240" cy="411480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03D3D"/>
                </a:solidFill>
                <a:latin typeface="Calibri"/>
              </a:rPr>
              <a:t>Не входит / ограничения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Анализ портфеля, маскирование ПДн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Генерация презентаций, парсинг рынка/OLX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До 120 пунктов за прогон сравнения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Загрузка новых док — интернет + платный Voyage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141424"/>
                </a:solidFill>
                <a:latin typeface="Calibri"/>
              </a:rPr>
              <a:t>•  Демо-набор 50 док, не полная база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Проверено вживую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Кросс-язык: русский запрос «антикоррупционная политика» находит русский документ (score 0.80) и узбекские (0.79).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Сравнение демо-приказа: 10 пунктов → 4 противоречия / 1 дубль / 1 дополнение / 4 пробела, цитаты норм 5/7, ~23 с.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Скорость: чат по готовой базе — секунды; сравнение 10 пунктов — ~20–25 с; реиндекс с кэшем эмбеддингов — ×77 быстрее.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Eval-наборы (retrieval / compare) + baseline зафиксированы в репозитории; 10 реальных примеров оформлены отдельно.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41424"/>
                </a:solidFill>
                <a:latin typeface="Calibri"/>
              </a:rPr>
              <a:t>Развёртывание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B3DF5"/>
                </a:solidFill>
                <a:latin typeface="Calibri"/>
              </a:rPr>
              <a:t>Docker · локально или на сервере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Локально: docker compose -f docker-compose.prod.yml up -d --build → UI на http://localhost:8090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Постоянный публичный адрес: деплой на VPS (домен + reverse-proxy).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Временный доступ: Cloudflare quick tunnel — бесплатно, без регистрации (URL эфемерный).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41424"/>
                </a:solidFill>
                <a:latin typeface="Calibri"/>
              </a:rPr>
              <a:t>•  Документация: QUICKSTART.md (запуск) и notes/DEPLOY-RUNBOOK.md (деплой).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UzMRC — готов к демонстрации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9C2F5"/>
                </a:solidFill>
                <a:latin typeface="Calibri"/>
              </a:rPr>
              <a:t>Оба модуля работают end-to-end · 50 документов в базе · ссылки на источник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A96B5"/>
                </a:solidFill>
                <a:latin typeface="Calibri"/>
              </a:rPr>
              <a:t>github.com/Yersultan04/uzmrc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